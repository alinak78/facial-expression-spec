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1493b464ca4ea5" /><Relationship Type="http://schemas.openxmlformats.org/officeDocument/2006/relationships/extended-properties" Target="/docProps/app.xml" Id="Rcf6193fae54b4d6d" /><Relationship Type="http://schemas.openxmlformats.org/officeDocument/2006/relationships/officeDocument" Target="/ppt/presentation.xml" Id="Rac245d985bdc4e45" /></Relationships>
</file>

<file path=ppt/presentation.xml><?xml version="1.0" encoding="utf-8"?>
<p:presentation xmlns:p="http://schemas.openxmlformats.org/presentationml/2006/main">
  <p:sldMasterIdLst>
    <p:sldMasterId xmlns:r="http://schemas.openxmlformats.org/officeDocument/2006/relationships" id="2147483648" r:id="Ra5438a8e9dbf4e35"/>
  </p:sldMasterIdLst>
  <p:notesMasterIdLst>
    <p:notesMasterId xmlns:r="http://schemas.openxmlformats.org/officeDocument/2006/relationships" r:id="R97be3ee607e04ded"/>
  </p:notesMasterIdLst>
  <p:sldIdLst>
    <p:sldId xmlns:r="http://schemas.openxmlformats.org/officeDocument/2006/relationships" id="256" r:id="R690a02292c7e45e7"/>
    <p:sldId xmlns:r="http://schemas.openxmlformats.org/officeDocument/2006/relationships" id="257" r:id="R59c50eabb1b34290"/>
    <p:sldId xmlns:r="http://schemas.openxmlformats.org/officeDocument/2006/relationships" id="258" r:id="Raf138f8b4a5c4c89"/>
    <p:sldId xmlns:r="http://schemas.openxmlformats.org/officeDocument/2006/relationships" id="259" r:id="R14a8f4e6d99d4703"/>
    <p:sldId xmlns:r="http://schemas.openxmlformats.org/officeDocument/2006/relationships" id="260" r:id="R12cd441385484b9b"/>
    <p:sldId xmlns:r="http://schemas.openxmlformats.org/officeDocument/2006/relationships" id="261" r:id="Rfb0e7b7e57024e83"/>
    <p:sldId xmlns:r="http://schemas.openxmlformats.org/officeDocument/2006/relationships" id="262" r:id="R7c74970940444e3a"/>
    <p:sldId xmlns:r="http://schemas.openxmlformats.org/officeDocument/2006/relationships" id="263" r:id="R0bf9e763a99a44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45fd5d2a0434e19" /><Relationship Type="http://schemas.openxmlformats.org/officeDocument/2006/relationships/slideMaster" Target="/ppt/slideMasters/slideMaster1.xml" Id="Ra5438a8e9dbf4e35" /><Relationship Type="http://schemas.openxmlformats.org/officeDocument/2006/relationships/notesMaster" Target="/ppt/notesMasters/notesMaster1.xml" Id="R97be3ee607e04ded" /><Relationship Type="http://schemas.openxmlformats.org/officeDocument/2006/relationships/presProps" Target="/ppt/presProps.xml" Id="R89101cb576334d73" /><Relationship Type="http://schemas.openxmlformats.org/officeDocument/2006/relationships/tableStyles" Target="/ppt/tableStyles.xml" Id="R58ea483513fe4e80" /><Relationship Type="http://schemas.openxmlformats.org/officeDocument/2006/relationships/slide" Target="/ppt/slides/slide1.xml" Id="R690a02292c7e45e7" /><Relationship Type="http://schemas.openxmlformats.org/officeDocument/2006/relationships/slide" Target="/ppt/slides/slide2.xml" Id="R59c50eabb1b34290" /><Relationship Type="http://schemas.openxmlformats.org/officeDocument/2006/relationships/slide" Target="/ppt/slides/slide3.xml" Id="Raf138f8b4a5c4c89" /><Relationship Type="http://schemas.openxmlformats.org/officeDocument/2006/relationships/slide" Target="/ppt/slides/slide4.xml" Id="R14a8f4e6d99d4703" /><Relationship Type="http://schemas.openxmlformats.org/officeDocument/2006/relationships/slide" Target="/ppt/slides/slide5.xml" Id="R12cd441385484b9b" /><Relationship Type="http://schemas.openxmlformats.org/officeDocument/2006/relationships/slide" Target="/ppt/slides/slide6.xml" Id="Rfb0e7b7e57024e83" /><Relationship Type="http://schemas.openxmlformats.org/officeDocument/2006/relationships/slide" Target="/ppt/slides/slide7.xml" Id="R7c74970940444e3a" /><Relationship Type="http://schemas.openxmlformats.org/officeDocument/2006/relationships/slide" Target="/ppt/slides/slide8.xml" Id="R0bf9e763a99a44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7ac6abd03e4b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5e3a7a0b3147d8" /><Relationship Type="http://schemas.openxmlformats.org/officeDocument/2006/relationships/notesMaster" Target="/ppt/notesMasters/notesMaster1.xml" Id="R11338cc13d0e44b7"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c1c1f34c1144a3" /><Relationship Type="http://schemas.openxmlformats.org/officeDocument/2006/relationships/notesMaster" Target="/ppt/notesMasters/notesMaster1.xml" Id="Ra8617ff686754d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efa7e8fde764ede" /><Relationship Type="http://schemas.openxmlformats.org/officeDocument/2006/relationships/notesMaster" Target="/ppt/notesMasters/notesMaster1.xml" Id="R21f01f20d73448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b53174511b354355" /><Relationship Type="http://schemas.openxmlformats.org/officeDocument/2006/relationships/notesMaster" Target="/ppt/notesMasters/notesMaster1.xml" Id="R8c2e0bace5a547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d9fbf59fa243d8" /><Relationship Type="http://schemas.openxmlformats.org/officeDocument/2006/relationships/notesMaster" Target="/ppt/notesMasters/notesMaster1.xml" Id="R0131006da76a40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da3541f68e4765" /><Relationship Type="http://schemas.openxmlformats.org/officeDocument/2006/relationships/notesMaster" Target="/ppt/notesMasters/notesMaster1.xml" Id="R2fb06b1d9bbd45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5acadd58dde444b1" /><Relationship Type="http://schemas.openxmlformats.org/officeDocument/2006/relationships/notesMaster" Target="/ppt/notesMasters/notesMaster1.xml" Id="Rd3a8dfe2431f492d" /></Relationships>
</file>

<file path=ppt/notesSlides/_rels/notesSlide8.xml.rels>&#65279;<?xml version="1.0" encoding="utf-8"?><Relationships xmlns="http://schemas.openxmlformats.org/package/2006/relationships"><Relationship Type="http://schemas.openxmlformats.org/officeDocument/2006/relationships/slide" Target="/ppt/slides/slide8.xml" Id="R955f6647ce9c4a40" /><Relationship Type="http://schemas.openxmlformats.org/officeDocument/2006/relationships/notesMaster" Target="/ppt/notesMasters/notesMaster1.xml" Id="Ra7d18a46d84e48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summarized from the prepared WiSense literature survey and cited papers listed in the final 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framing is based on the survey synthesis across autism, facial palsy, intellectual disability, and assistive technology papers.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Rudovic et al. arXiv: https://arxiv.org/abs/1802.01186. Bangerter et al.: https://pmc.ncbi.nlm.nih.gov/articles/PMC7212683/. Greene et al.: https://pubmed.ncbi.nlm.nih.gov/31021433/. Ge et al. arXiv: https://arxiv.org/abs/2203.01800. Gaya-Morey et al. arXiv: https://arxiv.org/abs/2401.11877.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Relevant code and repositories include OpenFace: https://github.com/TadasBaltrusaitis/OpenFace, Emotrics: https://github.com/dguari1/Emotrics, and YouTube Facial Palsy Database: https://github.com/AvLab-CV/YouTube-Facial-Palsy-Database.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synthesis based on Rudovic et al. 2018, Ge et al. 2022, Greene et al. 2020, and Gaya-Morey et al.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Limitations summarized from paper-specific limitations in Astler et al. 2011, Tanveer et al. 2013, Rudovic et al. 2018, Egger et al. 2018, Greene et al. 2020, Ge et al. 2022, and Gaya-Morey et al.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translates the survey into potential project directions for WiSense Lab.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Additional survey sources include Astler et al. ASSETS 2011, Tanveer et al. ASSETS 2013, Jaiswal et al. FG 2017, Egger et al. npj Digital Medicine 2018, OpenFace GitHub, Emotrics GitHub, and YouTube Facial Palsy Database GitHub.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e063ca809964a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cc93afb5d624803" /><Relationship Type="http://schemas.openxmlformats.org/officeDocument/2006/relationships/slideLayout" Target="/ppt/slideLayouts/slideLayout1.xml" Id="Rb679d4ab960f494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79d4ab960f494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5dc9212adf24390" /><Relationship Type="http://schemas.openxmlformats.org/officeDocument/2006/relationships/notesSlide" Target="/ppt/notesSlides/notesSlide1.xml" Id="R1b96c424abed4c3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0e6e0cb190842a7" /><Relationship Type="http://schemas.openxmlformats.org/officeDocument/2006/relationships/notesSlide" Target="/ppt/notesSlides/notesSlide2.xml" Id="R34218a52a2e340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e5190df1f8b4f1f" /><Relationship Type="http://schemas.openxmlformats.org/officeDocument/2006/relationships/notesSlide" Target="/ppt/notesSlides/notesSlide3.xml" Id="R84aa269a8bc94fa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15f211ffa784c55" /><Relationship Type="http://schemas.openxmlformats.org/officeDocument/2006/relationships/notesSlide" Target="/ppt/notesSlides/notesSlide4.xml" Id="Rbd637c1736a04c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f085fd1f0846c9" /><Relationship Type="http://schemas.openxmlformats.org/officeDocument/2006/relationships/notesSlide" Target="/ppt/notesSlides/notesSlide5.xml" Id="R05a1c1a1cd4e442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d07208b94745da" /><Relationship Type="http://schemas.openxmlformats.org/officeDocument/2006/relationships/notesSlide" Target="/ppt/notesSlides/notesSlide6.xml" Id="R3c6c070c1a5f4c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85465b69c244631" /><Relationship Type="http://schemas.openxmlformats.org/officeDocument/2006/relationships/notesSlide" Target="/ppt/notesSlides/notesSlide7.xml" Id="R5d616db7865347b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96d65db4af94393" /><Relationship Type="http://schemas.openxmlformats.org/officeDocument/2006/relationships/notesSlide" Target="/ppt/notesSlides/notesSlide8.xml" Id="R02673c759a714ee1" /></Relationships>
</file>

<file path=ppt/slides/slide1.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3BC6EE-9F16-4E69-B9EA-C4CE6438BEF7}"/>
              </a:ext>
            </a:extLst>
          </p:cNvPr>
          <p:cNvSpPr>
            <a:spLocks xmlns:a="http://schemas.openxmlformats.org/drawingml/2006/main" noGrp="1"/>
          </p:cNvSpPr>
          <p:nvPr/>
        </p:nvSpPr>
        <p:spPr>
          <a:xfrm xmlns:a="http://schemas.openxmlformats.org/drawingml/2006/main">
            <a:off x="609600" y="876300"/>
            <a:ext cx="100012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300" b="1">
                <a:solidFill>
                  <a:srgbClr val="151B23"/>
                </a:solidFill>
                <a:latin typeface="Arial"/>
                <a:ea typeface="Arial"/>
                <a:cs typeface="Arial"/>
              </a:defRPr>
            </a:pPr>
            <a:r>
              <a:rPr sz="3300" b="1">
                <a:solidFill>
                  <a:srgbClr val="151B23"/>
                </a:solidFill>
                <a:latin typeface="Arial"/>
                <a:ea typeface="Arial"/>
                <a:cs typeface="Arial"/>
              </a:rPr>
              <a:t>Facial Expression Recognition in People with Disabilities</a:t>
            </a:r>
          </a:p>
        </p:txBody>
      </p:sp>
      <p:sp>
        <p:nvSpPr>
          <p:cNvPr id="2" name="">
            <a:extLst xmlns:a="http://schemas.openxmlformats.org/drawingml/2006/main">
              <a:ext uri="{FF2B5EF4-FFF2-40B4-BE49-F238E27FC236}">
                <a16:creationId xmlns:a16="http://schemas.microsoft.com/office/drawing/2014/main" id="{4D3CDE8D-2CCA-4FE0-A0F7-357288A3F325}"/>
              </a:ext>
            </a:extLst>
          </p:cNvPr>
          <p:cNvSpPr>
            <a:spLocks xmlns:a="http://schemas.openxmlformats.org/drawingml/2006/main" noGrp="1"/>
          </p:cNvSpPr>
          <p:nvPr/>
        </p:nvSpPr>
        <p:spPr>
          <a:xfrm xmlns:a="http://schemas.openxmlformats.org/drawingml/2006/main">
            <a:off x="647700" y="2400300"/>
            <a:ext cx="800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4A5565"/>
                </a:solidFill>
                <a:latin typeface="Arial"/>
                <a:ea typeface="Arial"/>
                <a:cs typeface="Arial"/>
              </a:defRPr>
            </a:pPr>
            <a:r>
              <a:rPr sz="1800" b="0">
                <a:solidFill>
                  <a:srgbClr val="4A5565"/>
                </a:solidFill>
                <a:latin typeface="Arial"/>
                <a:ea typeface="Arial"/>
                <a:cs typeface="Arial"/>
              </a:rPr>
              <a:t>Literature survey for WiSense Lab at Cornell Tech</a:t>
            </a:r>
          </a:p>
        </p:txBody>
      </p:sp>
      <p:sp>
        <p:nvSpPr>
          <p:cNvPr id="3" name="">
            <a:extLst xmlns:a="http://schemas.openxmlformats.org/drawingml/2006/main">
              <a:ext uri="{FF2B5EF4-FFF2-40B4-BE49-F238E27FC236}">
                <a16:creationId xmlns:a16="http://schemas.microsoft.com/office/drawing/2014/main" id="{81D9CCA8-4C31-4C20-996A-A6526FDDE511}"/>
              </a:ext>
            </a:extLst>
          </p:cNvPr>
          <p:cNvSpPr>
            <a:spLocks xmlns:a="http://schemas.openxmlformats.org/drawingml/2006/main" noGrp="1"/>
          </p:cNvSpPr>
          <p:nvPr/>
        </p:nvSpPr>
        <p:spPr>
          <a:xfrm xmlns:a="http://schemas.openxmlformats.org/drawingml/2006/main">
            <a:off x="647700" y="3190875"/>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2457A6"/>
                </a:solidFill>
                <a:latin typeface="Arial"/>
                <a:ea typeface="Arial"/>
                <a:cs typeface="Arial"/>
              </a:defRPr>
            </a:pPr>
            <a:r>
              <a:rPr sz="1875" b="1">
                <a:solidFill>
                  <a:srgbClr val="2457A6"/>
                </a:solidFill>
                <a:latin typeface="Arial"/>
                <a:ea typeface="Arial"/>
                <a:cs typeface="Arial"/>
              </a:rPr>
              <a:t>Focus: studies, datasets, methods, code availability, results, limitations, and research opportunities</a:t>
            </a:r>
          </a:p>
        </p:txBody>
      </p:sp>
      <p:sp>
        <p:nvSpPr>
          <p:cNvPr id="4" name="">
            <a:extLst xmlns:a="http://schemas.openxmlformats.org/drawingml/2006/main">
              <a:ext uri="{FF2B5EF4-FFF2-40B4-BE49-F238E27FC236}">
                <a16:creationId xmlns:a16="http://schemas.microsoft.com/office/drawing/2014/main" id="{8C4AE8B4-2669-4FA6-9631-73E2A8CFAC67}"/>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1</a:t>
            </a:r>
          </a:p>
        </p:txBody>
      </p:sp>
    </p:spTree>
    <p:extLst>
      <p:ext uri="{BB962C8B-B14F-4D97-AF65-F5344CB8AC3E}">
        <p14:creationId xmlns:p14="http://schemas.microsoft.com/office/powerpoint/2010/main" val="926437567"/>
      </p:ext>
    </p:extLst>
  </p:cSld>
</p:sld>
</file>

<file path=ppt/slides/slide2.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035F8A1-B377-4D70-AEA5-09D76FDFE928}"/>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Why standard FER is not enough</a:t>
            </a:r>
          </a:p>
        </p:txBody>
      </p:sp>
      <p:sp>
        <p:nvSpPr>
          <p:cNvPr id="2" name="">
            <a:extLst xmlns:a="http://schemas.openxmlformats.org/drawingml/2006/main">
              <a:ext uri="{FF2B5EF4-FFF2-40B4-BE49-F238E27FC236}">
                <a16:creationId xmlns:a16="http://schemas.microsoft.com/office/drawing/2014/main" id="{002F167E-B18D-40D9-9759-72CC5BFC9133}"/>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Most facial expression models are trained on typical faces and basic emotion labels.</a:t>
            </a:r>
          </a:p>
        </p:txBody>
      </p:sp>
      <p:sp>
        <p:nvSpPr>
          <p:cNvPr id="3" name="">
            <a:extLst xmlns:a="http://schemas.openxmlformats.org/drawingml/2006/main">
              <a:ext uri="{FF2B5EF4-FFF2-40B4-BE49-F238E27FC236}">
                <a16:creationId xmlns:a16="http://schemas.microsoft.com/office/drawing/2014/main" id="{4D197962-B58D-4BF1-BF0D-EB822CF420DF}"/>
              </a:ext>
            </a:extLst>
          </p:cNvPr>
          <p:cNvSpPr>
            <a:spLocks xmlns:a="http://schemas.openxmlformats.org/drawingml/2006/main" noGrp="1"/>
          </p:cNvSpPr>
          <p:nvPr/>
        </p:nvSpPr>
        <p:spPr>
          <a:xfrm xmlns:a="http://schemas.openxmlformats.org/drawingml/2006/main">
            <a:off x="781050" y="2000250"/>
            <a:ext cx="10096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 Facial palsy, stroke, cerebral palsy, and other motor conditions can change movement speed, symmetry, and intensity</a:t>
            </a:r>
          </a:p>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 Autistic people and people with intellectual disabilities may express affect differently from standard training data</a:t>
            </a:r>
          </a:p>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 Blind and low vision users may need FER as an assistive tool for reading other people’s nonverbal cues</a:t>
            </a:r>
          </a:p>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 Facial movement should not be treated as a direct readout of internal emotion</a:t>
            </a:r>
          </a:p>
        </p:txBody>
      </p:sp>
      <p:sp>
        <p:nvSpPr>
          <p:cNvPr id="4" name="">
            <a:extLst xmlns:a="http://schemas.openxmlformats.org/drawingml/2006/main">
              <a:ext uri="{FF2B5EF4-FFF2-40B4-BE49-F238E27FC236}">
                <a16:creationId xmlns:a16="http://schemas.microsoft.com/office/drawing/2014/main" id="{E0803CB7-07BF-48CC-A639-D3729B320FFF}"/>
              </a:ext>
            </a:extLst>
          </p:cNvPr>
          <p:cNvSpPr>
            <a:spLocks xmlns:a="http://schemas.openxmlformats.org/drawingml/2006/main" noGrp="1"/>
          </p:cNvSpPr>
          <p:nvPr/>
        </p:nvSpPr>
        <p:spPr>
          <a:xfrm xmlns:a="http://schemas.openxmlformats.org/drawingml/2006/main">
            <a:off x="781050" y="5429250"/>
            <a:ext cx="990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950" b="1">
                <a:solidFill>
                  <a:srgbClr val="2E7D60"/>
                </a:solidFill>
                <a:latin typeface="Arial"/>
                <a:ea typeface="Arial"/>
                <a:cs typeface="Arial"/>
              </a:defRPr>
            </a:pPr>
            <a:r>
              <a:rPr sz="1950" b="1">
                <a:solidFill>
                  <a:srgbClr val="2E7D60"/>
                </a:solidFill>
                <a:latin typeface="Arial"/>
                <a:ea typeface="Arial"/>
                <a:cs typeface="Arial"/>
              </a:rPr>
              <a:t>Main framing: movement sensing + accessibility + careful interpretation</a:t>
            </a:r>
          </a:p>
        </p:txBody>
      </p:sp>
      <p:sp>
        <p:nvSpPr>
          <p:cNvPr id="5" name="">
            <a:extLst xmlns:a="http://schemas.openxmlformats.org/drawingml/2006/main">
              <a:ext uri="{FF2B5EF4-FFF2-40B4-BE49-F238E27FC236}">
                <a16:creationId xmlns:a16="http://schemas.microsoft.com/office/drawing/2014/main" id="{295C74F8-F62D-401D-A162-F6F96B66B858}"/>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2</a:t>
            </a:r>
          </a:p>
        </p:txBody>
      </p:sp>
    </p:spTree>
    <p:extLst>
      <p:ext uri="{BB962C8B-B14F-4D97-AF65-F5344CB8AC3E}">
        <p14:creationId xmlns:p14="http://schemas.microsoft.com/office/powerpoint/2010/main" val="1176807539"/>
      </p:ext>
    </p:extLst>
  </p:cSld>
</p:sld>
</file>

<file path=ppt/slides/slide3.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B0C982C-3DBC-4F0D-85A1-7265E3332FB3}"/>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Most successful or useful studies</a:t>
            </a:r>
          </a:p>
        </p:txBody>
      </p:sp>
      <p:sp>
        <p:nvSpPr>
          <p:cNvPr id="2" name="">
            <a:extLst xmlns:a="http://schemas.openxmlformats.org/drawingml/2006/main">
              <a:ext uri="{FF2B5EF4-FFF2-40B4-BE49-F238E27FC236}">
                <a16:creationId xmlns:a16="http://schemas.microsoft.com/office/drawing/2014/main" id="{BFB0BA4C-5913-4FCC-BEA5-F95E97A2006F}"/>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These papers best show why disability-aware models are needed.</a:t>
            </a:r>
          </a:p>
        </p:txBody>
      </p:sp>
      <p:graphicFrame>
        <p:nvGraphicFramePr>
          <p:cNvPr id="8" name=""/>
          <p:cNvGraphicFramePr/>
          <p:nvPr/>
        </p:nvGraphicFramePr>
        <p:xfrm>
          <a:off xmlns:a="http://schemas.openxmlformats.org/drawingml/2006/main" x="628650" y="1809750"/>
          <a:ext xmlns:a="http://schemas.openxmlformats.org/drawingml/2006/main" cx="10934700" cy="3333750"/>
        </p:xfrm>
        <a:graphic xmlns:a="http://schemas.openxmlformats.org/drawingml/2006/main">
          <a:graphicData uri="http://schemas.openxmlformats.org/drawingml/2006/table">
            <a:tbl>
              <a:tblPr firstRow="1" bandRow="0"/>
              <a:tblGrid>
                <a:gridCol w="2863850"/>
                <a:gridCol w="4035425"/>
                <a:gridCol w="4035425"/>
              </a:tblGrid>
              <a:tr h="555625">
                <a:tc>
                  <a:txBody>
                    <a:bodyPr/>
                    <a:lstStyle/>
                    <a:p>
                      <a:r>
                        <a:rPr sz="1200" b="1">
                          <a:solidFill>
                            <a:srgbClr val="151B23"/>
                          </a:solidFill>
                          <a:latin typeface="Arial"/>
                          <a:ea typeface="Arial"/>
                          <a:cs typeface="Arial"/>
                        </a:rPr>
                        <a:t>Study</a:t>
                      </a:r>
                    </a:p>
                  </a:txBody>
                  <a:tcPr marL="76200" marR="76200" marT="66675" marB="66675">
                    <a:solidFill>
                      <a:srgbClr val="EAF1FF"/>
                    </a:solidFill>
                  </a:tcPr>
                </a:tc>
                <a:tc>
                  <a:txBody>
                    <a:bodyPr/>
                    <a:lstStyle/>
                    <a:p>
                      <a:r>
                        <a:rPr sz="1200" b="1">
                          <a:solidFill>
                            <a:srgbClr val="151B23"/>
                          </a:solidFill>
                          <a:latin typeface="Arial"/>
                          <a:ea typeface="Arial"/>
                          <a:cs typeface="Arial"/>
                        </a:rPr>
                        <a:t>Why it matters</a:t>
                      </a:r>
                    </a:p>
                  </a:txBody>
                  <a:tcPr marL="76200" marR="76200" marT="66675" marB="66675">
                    <a:solidFill>
                      <a:srgbClr val="EAF1FF"/>
                    </a:solidFill>
                  </a:tcPr>
                </a:tc>
                <a:tc>
                  <a:txBody>
                    <a:bodyPr/>
                    <a:lstStyle/>
                    <a:p>
                      <a:r>
                        <a:rPr sz="1200" b="1">
                          <a:solidFill>
                            <a:srgbClr val="151B23"/>
                          </a:solidFill>
                          <a:latin typeface="Arial"/>
                          <a:ea typeface="Arial"/>
                          <a:cs typeface="Arial"/>
                        </a:rPr>
                        <a:t>Key result</a:t>
                      </a:r>
                    </a:p>
                  </a:txBody>
                  <a:tcPr marL="76200" marR="76200" marT="66675" marB="66675">
                    <a:solidFill>
                      <a:srgbClr val="EAF1FF"/>
                    </a:solidFill>
                  </a:tcPr>
                </a:tc>
              </a:tr>
              <a:tr h="555625">
                <a:tc>
                  <a:txBody>
                    <a:bodyPr/>
                    <a:lstStyle/>
                    <a:p>
                      <a:r>
                        <a:rPr sz="1050">
                          <a:solidFill>
                            <a:srgbClr val="151B23"/>
                          </a:solidFill>
                          <a:latin typeface="Arial"/>
                          <a:ea typeface="Arial"/>
                          <a:cs typeface="Arial"/>
                        </a:rPr>
                        <a:t>Rudovic et al. 2018</a:t>
                      </a:r>
                    </a:p>
                  </a:txBody>
                  <a:tcPr marL="76200" marR="76200" marT="66675" marB="66675"/>
                </a:tc>
                <a:tc>
                  <a:txBody>
                    <a:bodyPr/>
                    <a:lstStyle/>
                    <a:p>
                      <a:r>
                        <a:rPr sz="1050">
                          <a:solidFill>
                            <a:srgbClr val="151B23"/>
                          </a:solidFill>
                          <a:latin typeface="Arial"/>
                          <a:ea typeface="Arial"/>
                          <a:cs typeface="Arial"/>
                        </a:rPr>
                        <a:t>Personalized autism therapy model</a:t>
                      </a:r>
                    </a:p>
                  </a:txBody>
                  <a:tcPr marL="76200" marR="76200" marT="66675" marB="66675"/>
                </a:tc>
                <a:tc>
                  <a:txBody>
                    <a:bodyPr/>
                    <a:lstStyle/>
                    <a:p>
                      <a:r>
                        <a:rPr sz="1050">
                          <a:solidFill>
                            <a:srgbClr val="151B23"/>
                          </a:solidFill>
                          <a:latin typeface="Arial"/>
                          <a:ea typeface="Arial"/>
                          <a:cs typeface="Arial"/>
                        </a:rPr>
                        <a:t>Personalized models beat general models</a:t>
                      </a:r>
                    </a:p>
                  </a:txBody>
                  <a:tcPr marL="76200" marR="76200" marT="66675" marB="66675"/>
                </a:tc>
              </a:tr>
              <a:tr h="555625">
                <a:tc>
                  <a:txBody>
                    <a:bodyPr/>
                    <a:lstStyle/>
                    <a:p>
                      <a:r>
                        <a:rPr sz="1050">
                          <a:solidFill>
                            <a:srgbClr val="151B23"/>
                          </a:solidFill>
                          <a:latin typeface="Arial"/>
                          <a:ea typeface="Arial"/>
                          <a:cs typeface="Arial"/>
                        </a:rPr>
                        <a:t>Bangerter et al. 2020</a:t>
                      </a:r>
                    </a:p>
                  </a:txBody>
                  <a:tcPr marL="76200" marR="76200" marT="66675" marB="66675"/>
                </a:tc>
                <a:tc>
                  <a:txBody>
                    <a:bodyPr/>
                    <a:lstStyle/>
                    <a:p>
                      <a:r>
                        <a:rPr sz="1050">
                          <a:solidFill>
                            <a:srgbClr val="151B23"/>
                          </a:solidFill>
                          <a:latin typeface="Arial"/>
                          <a:ea typeface="Arial"/>
                          <a:cs typeface="Arial"/>
                        </a:rPr>
                        <a:t>Large autism expression analysis</a:t>
                      </a:r>
                    </a:p>
                  </a:txBody>
                  <a:tcPr marL="76200" marR="76200" marT="66675" marB="66675"/>
                </a:tc>
                <a:tc>
                  <a:txBody>
                    <a:bodyPr/>
                    <a:lstStyle/>
                    <a:p>
                      <a:r>
                        <a:rPr sz="1050">
                          <a:solidFill>
                            <a:srgbClr val="151B23"/>
                          </a:solidFill>
                          <a:latin typeface="Arial"/>
                          <a:ea typeface="Arial"/>
                          <a:cs typeface="Arial"/>
                        </a:rPr>
                        <a:t>Found under- and over-responsive subgroups</a:t>
                      </a:r>
                    </a:p>
                  </a:txBody>
                  <a:tcPr marL="76200" marR="76200" marT="66675" marB="66675"/>
                </a:tc>
              </a:tr>
              <a:tr h="555625">
                <a:tc>
                  <a:txBody>
                    <a:bodyPr/>
                    <a:lstStyle/>
                    <a:p>
                      <a:r>
                        <a:rPr sz="1050">
                          <a:solidFill>
                            <a:srgbClr val="151B23"/>
                          </a:solidFill>
                          <a:latin typeface="Arial"/>
                          <a:ea typeface="Arial"/>
                          <a:cs typeface="Arial"/>
                        </a:rPr>
                        <a:t>Greene et al. 2020</a:t>
                      </a:r>
                    </a:p>
                  </a:txBody>
                  <a:tcPr marL="76200" marR="76200" marT="66675" marB="66675"/>
                </a:tc>
                <a:tc>
                  <a:txBody>
                    <a:bodyPr/>
                    <a:lstStyle/>
                    <a:p>
                      <a:r>
                        <a:rPr sz="1050">
                          <a:solidFill>
                            <a:srgbClr val="151B23"/>
                          </a:solidFill>
                          <a:latin typeface="Arial"/>
                          <a:ea typeface="Arial"/>
                          <a:cs typeface="Arial"/>
                        </a:rPr>
                        <a:t>Facial palsy standard set</a:t>
                      </a:r>
                    </a:p>
                  </a:txBody>
                  <a:tcPr marL="76200" marR="76200" marT="66675" marB="66675"/>
                </a:tc>
                <a:tc>
                  <a:txBody>
                    <a:bodyPr/>
                    <a:lstStyle/>
                    <a:p>
                      <a:r>
                        <a:rPr sz="1050">
                          <a:solidFill>
                            <a:srgbClr val="151B23"/>
                          </a:solidFill>
                          <a:latin typeface="Arial"/>
                          <a:ea typeface="Arial"/>
                          <a:cs typeface="Arial"/>
                        </a:rPr>
                        <a:t>Standard FER misread palsy as altered emotion</a:t>
                      </a:r>
                    </a:p>
                  </a:txBody>
                  <a:tcPr marL="76200" marR="76200" marT="66675" marB="66675"/>
                </a:tc>
              </a:tr>
              <a:tr h="555625">
                <a:tc>
                  <a:txBody>
                    <a:bodyPr/>
                    <a:lstStyle/>
                    <a:p>
                      <a:r>
                        <a:rPr sz="1050">
                          <a:solidFill>
                            <a:srgbClr val="151B23"/>
                          </a:solidFill>
                          <a:latin typeface="Arial"/>
                          <a:ea typeface="Arial"/>
                          <a:cs typeface="Arial"/>
                        </a:rPr>
                        <a:t>Ge et al. 2022</a:t>
                      </a:r>
                    </a:p>
                  </a:txBody>
                  <a:tcPr marL="76200" marR="76200" marT="66675" marB="66675"/>
                </a:tc>
                <a:tc>
                  <a:txBody>
                    <a:bodyPr/>
                    <a:lstStyle/>
                    <a:p>
                      <a:r>
                        <a:rPr sz="1050">
                          <a:solidFill>
                            <a:srgbClr val="151B23"/>
                          </a:solidFill>
                          <a:latin typeface="Arial"/>
                          <a:ea typeface="Arial"/>
                          <a:cs typeface="Arial"/>
                        </a:rPr>
                        <a:t>Action units for paralysis</a:t>
                      </a:r>
                    </a:p>
                  </a:txBody>
                  <a:tcPr marL="76200" marR="76200" marT="66675" marB="66675"/>
                </a:tc>
                <a:tc>
                  <a:txBody>
                    <a:bodyPr/>
                    <a:lstStyle/>
                    <a:p>
                      <a:r>
                        <a:rPr sz="1050">
                          <a:solidFill>
                            <a:srgbClr val="151B23"/>
                          </a:solidFill>
                          <a:latin typeface="Arial"/>
                          <a:ea typeface="Arial"/>
                          <a:cs typeface="Arial"/>
                        </a:rPr>
                        <a:t>AU features supported severity estimation</a:t>
                      </a:r>
                    </a:p>
                  </a:txBody>
                  <a:tcPr marL="76200" marR="76200" marT="66675" marB="66675"/>
                </a:tc>
              </a:tr>
              <a:tr h="555625">
                <a:tc>
                  <a:txBody>
                    <a:bodyPr/>
                    <a:lstStyle/>
                    <a:p>
                      <a:r>
                        <a:rPr sz="1050">
                          <a:solidFill>
                            <a:srgbClr val="151B23"/>
                          </a:solidFill>
                          <a:latin typeface="Arial"/>
                          <a:ea typeface="Arial"/>
                          <a:cs typeface="Arial"/>
                        </a:rPr>
                        <a:t>Gaya-Morey et al. 2026</a:t>
                      </a:r>
                    </a:p>
                  </a:txBody>
                  <a:tcPr marL="76200" marR="76200" marT="66675" marB="66675"/>
                </a:tc>
                <a:tc>
                  <a:txBody>
                    <a:bodyPr/>
                    <a:lstStyle/>
                    <a:p>
                      <a:r>
                        <a:rPr sz="1050">
                          <a:solidFill>
                            <a:srgbClr val="151B23"/>
                          </a:solidFill>
                          <a:latin typeface="Arial"/>
                          <a:ea typeface="Arial"/>
                          <a:cs typeface="Arial"/>
                        </a:rPr>
                        <a:t>Intellectual disability generalization test</a:t>
                      </a:r>
                    </a:p>
                  </a:txBody>
                  <a:tcPr marL="76200" marR="76200" marT="66675" marB="66675"/>
                </a:tc>
                <a:tc>
                  <a:txBody>
                    <a:bodyPr/>
                    <a:lstStyle/>
                    <a:p>
                      <a:r>
                        <a:rPr sz="1050">
                          <a:solidFill>
                            <a:srgbClr val="151B23"/>
                          </a:solidFill>
                          <a:latin typeface="Arial"/>
                          <a:ea typeface="Arial"/>
                          <a:cs typeface="Arial"/>
                        </a:rPr>
                        <a:t>Typical FER models dropped below 50 percent</a:t>
                      </a:r>
                    </a:p>
                  </a:txBody>
                  <a:tcPr marL="76200" marR="76200" marT="66675" marB="66675"/>
                </a:tc>
              </a:tr>
            </a:tbl>
          </a:graphicData>
        </a:graphic>
      </p:graphicFrame>
      <p:sp>
        <p:nvSpPr>
          <p:cNvPr id="4" name="">
            <a:extLst xmlns:a="http://schemas.openxmlformats.org/drawingml/2006/main">
              <a:ext uri="{FF2B5EF4-FFF2-40B4-BE49-F238E27FC236}">
                <a16:creationId xmlns:a16="http://schemas.microsoft.com/office/drawing/2014/main" id="{D48162A3-DD4F-4136-A909-2FA360A1C2A3}"/>
              </a:ext>
            </a:extLst>
          </p:cNvPr>
          <p:cNvSpPr>
            <a:spLocks xmlns:a="http://schemas.openxmlformats.org/drawingml/2006/main" noGrp="1"/>
          </p:cNvSpPr>
          <p:nvPr/>
        </p:nvSpPr>
        <p:spPr>
          <a:xfrm xmlns:a="http://schemas.openxmlformats.org/drawingml/2006/main">
            <a:off x="704850" y="552450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1">
                <a:solidFill>
                  <a:srgbClr val="2457A6"/>
                </a:solidFill>
                <a:latin typeface="Arial"/>
                <a:ea typeface="Arial"/>
                <a:cs typeface="Arial"/>
              </a:defRPr>
            </a:pPr>
            <a:r>
              <a:rPr sz="1800" b="1">
                <a:solidFill>
                  <a:srgbClr val="2457A6"/>
                </a:solidFill>
                <a:latin typeface="Arial"/>
                <a:ea typeface="Arial"/>
                <a:cs typeface="Arial"/>
              </a:rPr>
              <a:t>Best overall lesson: personalization matters more than generic emotion labels.</a:t>
            </a:r>
          </a:p>
        </p:txBody>
      </p:sp>
      <p:sp>
        <p:nvSpPr>
          <p:cNvPr id="5" name="">
            <a:extLst xmlns:a="http://schemas.openxmlformats.org/drawingml/2006/main">
              <a:ext uri="{FF2B5EF4-FFF2-40B4-BE49-F238E27FC236}">
                <a16:creationId xmlns:a16="http://schemas.microsoft.com/office/drawing/2014/main" id="{606587E9-55EC-4753-A8B6-D0C74A4B6474}"/>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3</a:t>
            </a:r>
          </a:p>
        </p:txBody>
      </p:sp>
    </p:spTree>
    <p:extLst>
      <p:ext uri="{BB962C8B-B14F-4D97-AF65-F5344CB8AC3E}">
        <p14:creationId xmlns:p14="http://schemas.microsoft.com/office/powerpoint/2010/main" val="1906825728"/>
      </p:ext>
    </p:extLst>
  </p:cSld>
</p:sld>
</file>

<file path=ppt/slides/slide4.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78954FC-C459-4674-BDE1-0A84C79A99B8}"/>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Datasets and code are limited</a:t>
            </a:r>
          </a:p>
        </p:txBody>
      </p:sp>
      <p:sp>
        <p:nvSpPr>
          <p:cNvPr id="2" name="">
            <a:extLst xmlns:a="http://schemas.openxmlformats.org/drawingml/2006/main">
              <a:ext uri="{FF2B5EF4-FFF2-40B4-BE49-F238E27FC236}">
                <a16:creationId xmlns:a16="http://schemas.microsoft.com/office/drawing/2014/main" id="{7E50D690-A4D5-404D-B996-36385C64814E}"/>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Most disability-specific datasets are small, private, or clinically restricted.</a:t>
            </a:r>
          </a:p>
        </p:txBody>
      </p:sp>
      <p:graphicFrame>
        <p:nvGraphicFramePr>
          <p:cNvPr id="7" name=""/>
          <p:cNvGraphicFramePr/>
          <p:nvPr/>
        </p:nvGraphicFramePr>
        <p:xfrm>
          <a:off xmlns:a="http://schemas.openxmlformats.org/drawingml/2006/main" x="628650" y="1809750"/>
          <a:ext xmlns:a="http://schemas.openxmlformats.org/drawingml/2006/main" cx="10934700" cy="3714750"/>
        </p:xfrm>
        <a:graphic xmlns:a="http://schemas.openxmlformats.org/drawingml/2006/main">
          <a:graphicData uri="http://schemas.openxmlformats.org/drawingml/2006/table">
            <a:tbl>
              <a:tblPr firstRow="1" bandRow="0"/>
              <a:tblGrid>
                <a:gridCol w="3733800"/>
                <a:gridCol w="2800350"/>
                <a:gridCol w="4400550"/>
              </a:tblGrid>
              <a:tr h="464344">
                <a:tc>
                  <a:txBody>
                    <a:bodyPr/>
                    <a:lstStyle/>
                    <a:p>
                      <a:r>
                        <a:rPr sz="1200" b="1">
                          <a:solidFill>
                            <a:srgbClr val="151B23"/>
                          </a:solidFill>
                          <a:latin typeface="Arial"/>
                          <a:ea typeface="Arial"/>
                          <a:cs typeface="Arial"/>
                        </a:rPr>
                        <a:t>Resource</a:t>
                      </a:r>
                    </a:p>
                  </a:txBody>
                  <a:tcPr marL="76200" marR="76200" marT="66675" marB="66675">
                    <a:solidFill>
                      <a:srgbClr val="EAF1FF"/>
                    </a:solidFill>
                  </a:tcPr>
                </a:tc>
                <a:tc>
                  <a:txBody>
                    <a:bodyPr/>
                    <a:lstStyle/>
                    <a:p>
                      <a:r>
                        <a:rPr sz="1200" b="1">
                          <a:solidFill>
                            <a:srgbClr val="151B23"/>
                          </a:solidFill>
                          <a:latin typeface="Arial"/>
                          <a:ea typeface="Arial"/>
                          <a:cs typeface="Arial"/>
                        </a:rPr>
                        <a:t>Population</a:t>
                      </a:r>
                    </a:p>
                  </a:txBody>
                  <a:tcPr marL="76200" marR="76200" marT="66675" marB="66675">
                    <a:solidFill>
                      <a:srgbClr val="EAF1FF"/>
                    </a:solidFill>
                  </a:tcPr>
                </a:tc>
                <a:tc>
                  <a:txBody>
                    <a:bodyPr/>
                    <a:lstStyle/>
                    <a:p>
                      <a:r>
                        <a:rPr sz="1200" b="1">
                          <a:solidFill>
                            <a:srgbClr val="151B23"/>
                          </a:solidFill>
                          <a:latin typeface="Arial"/>
                          <a:ea typeface="Arial"/>
                          <a:cs typeface="Arial"/>
                        </a:rPr>
                        <a:t>Availability</a:t>
                      </a:r>
                    </a:p>
                  </a:txBody>
                  <a:tcPr marL="76200" marR="76200" marT="66675" marB="66675">
                    <a:solidFill>
                      <a:srgbClr val="EAF1FF"/>
                    </a:solidFill>
                  </a:tcPr>
                </a:tc>
              </a:tr>
              <a:tr h="464344">
                <a:tc>
                  <a:txBody>
                    <a:bodyPr/>
                    <a:lstStyle/>
                    <a:p>
                      <a:r>
                        <a:rPr sz="1050">
                          <a:solidFill>
                            <a:srgbClr val="151B23"/>
                          </a:solidFill>
                          <a:latin typeface="Arial"/>
                          <a:ea typeface="Arial"/>
                          <a:cs typeface="Arial"/>
                        </a:rPr>
                        <a:t>MEEI Facial Palsy Set</a:t>
                      </a:r>
                    </a:p>
                  </a:txBody>
                  <a:tcPr marL="76200" marR="76200" marT="66675" marB="66675"/>
                </a:tc>
                <a:tc>
                  <a:txBody>
                    <a:bodyPr/>
                    <a:lstStyle/>
                    <a:p>
                      <a:r>
                        <a:rPr sz="1050">
                          <a:solidFill>
                            <a:srgbClr val="151B23"/>
                          </a:solidFill>
                          <a:latin typeface="Arial"/>
                          <a:ea typeface="Arial"/>
                          <a:cs typeface="Arial"/>
                        </a:rPr>
                        <a:t>Facial palsy</a:t>
                      </a:r>
                    </a:p>
                  </a:txBody>
                  <a:tcPr marL="76200" marR="76200" marT="66675" marB="66675"/>
                </a:tc>
                <a:tc>
                  <a:txBody>
                    <a:bodyPr/>
                    <a:lstStyle/>
                    <a:p>
                      <a:r>
                        <a:rPr sz="1050">
                          <a:solidFill>
                            <a:srgbClr val="151B23"/>
                          </a:solidFill>
                          <a:latin typeface="Arial"/>
                          <a:ea typeface="Arial"/>
                          <a:cs typeface="Arial"/>
                        </a:rPr>
                        <a:t>Open/available for research; small</a:t>
                      </a:r>
                    </a:p>
                  </a:txBody>
                  <a:tcPr marL="76200" marR="76200" marT="66675" marB="66675"/>
                </a:tc>
              </a:tr>
              <a:tr h="464344">
                <a:tc>
                  <a:txBody>
                    <a:bodyPr/>
                    <a:lstStyle/>
                    <a:p>
                      <a:r>
                        <a:rPr sz="1050">
                          <a:solidFill>
                            <a:srgbClr val="151B23"/>
                          </a:solidFill>
                          <a:latin typeface="Arial"/>
                          <a:ea typeface="Arial"/>
                          <a:cs typeface="Arial"/>
                        </a:rPr>
                        <a:t>YouTube Facial Palsy Database</a:t>
                      </a:r>
                    </a:p>
                  </a:txBody>
                  <a:tcPr marL="76200" marR="76200" marT="66675" marB="66675"/>
                </a:tc>
                <a:tc>
                  <a:txBody>
                    <a:bodyPr/>
                    <a:lstStyle/>
                    <a:p>
                      <a:r>
                        <a:rPr sz="1050">
                          <a:solidFill>
                            <a:srgbClr val="151B23"/>
                          </a:solidFill>
                          <a:latin typeface="Arial"/>
                          <a:ea typeface="Arial"/>
                          <a:cs typeface="Arial"/>
                        </a:rPr>
                        <a:t>Facial palsy</a:t>
                      </a:r>
                    </a:p>
                  </a:txBody>
                  <a:tcPr marL="76200" marR="76200" marT="66675" marB="66675"/>
                </a:tc>
                <a:tc>
                  <a:txBody>
                    <a:bodyPr/>
                    <a:lstStyle/>
                    <a:p>
                      <a:r>
                        <a:rPr sz="1050">
                          <a:solidFill>
                            <a:srgbClr val="151B23"/>
                          </a:solidFill>
                          <a:latin typeface="Arial"/>
                          <a:ea typeface="Arial"/>
                          <a:cs typeface="Arial"/>
                        </a:rPr>
                        <a:t>Public GitHub dataset; 32 videos</a:t>
                      </a:r>
                    </a:p>
                  </a:txBody>
                  <a:tcPr marL="76200" marR="76200" marT="66675" marB="66675"/>
                </a:tc>
              </a:tr>
              <a:tr h="464344">
                <a:tc>
                  <a:txBody>
                    <a:bodyPr/>
                    <a:lstStyle/>
                    <a:p>
                      <a:r>
                        <a:rPr sz="1050">
                          <a:solidFill>
                            <a:srgbClr val="151B23"/>
                          </a:solidFill>
                          <a:latin typeface="Arial"/>
                          <a:ea typeface="Arial"/>
                          <a:cs typeface="Arial"/>
                        </a:rPr>
                        <a:t>FPara</a:t>
                      </a:r>
                    </a:p>
                  </a:txBody>
                  <a:tcPr marL="76200" marR="76200" marT="66675" marB="66675"/>
                </a:tc>
                <a:tc>
                  <a:txBody>
                    <a:bodyPr/>
                    <a:lstStyle/>
                    <a:p>
                      <a:r>
                        <a:rPr sz="1050">
                          <a:solidFill>
                            <a:srgbClr val="151B23"/>
                          </a:solidFill>
                          <a:latin typeface="Arial"/>
                          <a:ea typeface="Arial"/>
                          <a:cs typeface="Arial"/>
                        </a:rPr>
                        <a:t>Facial paralysis</a:t>
                      </a:r>
                    </a:p>
                  </a:txBody>
                  <a:tcPr marL="76200" marR="76200" marT="66675" marB="66675"/>
                </a:tc>
                <a:tc>
                  <a:txBody>
                    <a:bodyPr/>
                    <a:lstStyle/>
                    <a:p>
                      <a:r>
                        <a:rPr sz="1050">
                          <a:solidFill>
                            <a:srgbClr val="151B23"/>
                          </a:solidFill>
                          <a:latin typeface="Arial"/>
                          <a:ea typeface="Arial"/>
                          <a:cs typeface="Arial"/>
                        </a:rPr>
                        <a:t>Not broadly public</a:t>
                      </a:r>
                    </a:p>
                  </a:txBody>
                  <a:tcPr marL="76200" marR="76200" marT="66675" marB="66675"/>
                </a:tc>
              </a:tr>
              <a:tr h="464344">
                <a:tc>
                  <a:txBody>
                    <a:bodyPr/>
                    <a:lstStyle/>
                    <a:p>
                      <a:r>
                        <a:rPr sz="1050">
                          <a:solidFill>
                            <a:srgbClr val="151B23"/>
                          </a:solidFill>
                          <a:latin typeface="Arial"/>
                          <a:ea typeface="Arial"/>
                          <a:cs typeface="Arial"/>
                        </a:rPr>
                        <a:t>MuDERI</a:t>
                      </a:r>
                    </a:p>
                  </a:txBody>
                  <a:tcPr marL="76200" marR="76200" marT="66675" marB="66675"/>
                </a:tc>
                <a:tc>
                  <a:txBody>
                    <a:bodyPr/>
                    <a:lstStyle/>
                    <a:p>
                      <a:r>
                        <a:rPr sz="1050">
                          <a:solidFill>
                            <a:srgbClr val="151B23"/>
                          </a:solidFill>
                          <a:latin typeface="Arial"/>
                          <a:ea typeface="Arial"/>
                          <a:cs typeface="Arial"/>
                        </a:rPr>
                        <a:t>Intellectual disabilities</a:t>
                      </a:r>
                    </a:p>
                  </a:txBody>
                  <a:tcPr marL="76200" marR="76200" marT="66675" marB="66675"/>
                </a:tc>
                <a:tc>
                  <a:txBody>
                    <a:bodyPr/>
                    <a:lstStyle/>
                    <a:p>
                      <a:r>
                        <a:rPr sz="1050">
                          <a:solidFill>
                            <a:srgbClr val="151B23"/>
                          </a:solidFill>
                          <a:latin typeface="Arial"/>
                          <a:ea typeface="Arial"/>
                          <a:cs typeface="Arial"/>
                        </a:rPr>
                        <a:t>Small disability-specific dataset</a:t>
                      </a:r>
                    </a:p>
                  </a:txBody>
                  <a:tcPr marL="76200" marR="76200" marT="66675" marB="66675"/>
                </a:tc>
              </a:tr>
              <a:tr h="464344">
                <a:tc>
                  <a:txBody>
                    <a:bodyPr/>
                    <a:lstStyle/>
                    <a:p>
                      <a:r>
                        <a:rPr sz="1050">
                          <a:solidFill>
                            <a:srgbClr val="151B23"/>
                          </a:solidFill>
                          <a:latin typeface="Arial"/>
                          <a:ea typeface="Arial"/>
                          <a:cs typeface="Arial"/>
                        </a:rPr>
                        <a:t>MDCA / autism therapy data</a:t>
                      </a:r>
                    </a:p>
                  </a:txBody>
                  <a:tcPr marL="76200" marR="76200" marT="66675" marB="66675"/>
                </a:tc>
                <a:tc>
                  <a:txBody>
                    <a:bodyPr/>
                    <a:lstStyle/>
                    <a:p>
                      <a:r>
                        <a:rPr sz="1050">
                          <a:solidFill>
                            <a:srgbClr val="151B23"/>
                          </a:solidFill>
                          <a:latin typeface="Arial"/>
                          <a:ea typeface="Arial"/>
                          <a:cs typeface="Arial"/>
                        </a:rPr>
                        <a:t>Autistic children</a:t>
                      </a:r>
                    </a:p>
                  </a:txBody>
                  <a:tcPr marL="76200" marR="76200" marT="66675" marB="66675"/>
                </a:tc>
                <a:tc>
                  <a:txBody>
                    <a:bodyPr/>
                    <a:lstStyle/>
                    <a:p>
                      <a:r>
                        <a:rPr sz="1050">
                          <a:solidFill>
                            <a:srgbClr val="151B23"/>
                          </a:solidFill>
                          <a:latin typeface="Arial"/>
                          <a:ea typeface="Arial"/>
                          <a:cs typeface="Arial"/>
                        </a:rPr>
                        <a:t>Private multimodal therapy data</a:t>
                      </a:r>
                    </a:p>
                  </a:txBody>
                  <a:tcPr marL="76200" marR="76200" marT="66675" marB="66675"/>
                </a:tc>
              </a:tr>
              <a:tr h="464344">
                <a:tc>
                  <a:txBody>
                    <a:bodyPr/>
                    <a:lstStyle/>
                    <a:p>
                      <a:r>
                        <a:rPr sz="1050">
                          <a:solidFill>
                            <a:srgbClr val="151B23"/>
                          </a:solidFill>
                          <a:latin typeface="Arial"/>
                          <a:ea typeface="Arial"/>
                          <a:cs typeface="Arial"/>
                        </a:rPr>
                        <a:t>OpenFace</a:t>
                      </a:r>
                    </a:p>
                  </a:txBody>
                  <a:tcPr marL="76200" marR="76200" marT="66675" marB="66675"/>
                </a:tc>
                <a:tc>
                  <a:txBody>
                    <a:bodyPr/>
                    <a:lstStyle/>
                    <a:p>
                      <a:r>
                        <a:rPr sz="1050">
                          <a:solidFill>
                            <a:srgbClr val="151B23"/>
                          </a:solidFill>
                          <a:latin typeface="Arial"/>
                          <a:ea typeface="Arial"/>
                          <a:cs typeface="Arial"/>
                        </a:rPr>
                        <a:t>General facial behavior</a:t>
                      </a:r>
                    </a:p>
                  </a:txBody>
                  <a:tcPr marL="76200" marR="76200" marT="66675" marB="66675"/>
                </a:tc>
                <a:tc>
                  <a:txBody>
                    <a:bodyPr/>
                    <a:lstStyle/>
                    <a:p>
                      <a:r>
                        <a:rPr sz="1050">
                          <a:solidFill>
                            <a:srgbClr val="151B23"/>
                          </a:solidFill>
                          <a:latin typeface="Arial"/>
                          <a:ea typeface="Arial"/>
                          <a:cs typeface="Arial"/>
                        </a:rPr>
                        <a:t>Public toolkit for landmarks, pose, gaze, AUs</a:t>
                      </a:r>
                    </a:p>
                  </a:txBody>
                  <a:tcPr marL="76200" marR="76200" marT="66675" marB="66675"/>
                </a:tc>
              </a:tr>
              <a:tr h="464344">
                <a:tc>
                  <a:txBody>
                    <a:bodyPr/>
                    <a:lstStyle/>
                    <a:p>
                      <a:r>
                        <a:rPr sz="1050">
                          <a:solidFill>
                            <a:srgbClr val="151B23"/>
                          </a:solidFill>
                          <a:latin typeface="Arial"/>
                          <a:ea typeface="Arial"/>
                          <a:cs typeface="Arial"/>
                        </a:rPr>
                        <a:t>Emotrics</a:t>
                      </a:r>
                    </a:p>
                  </a:txBody>
                  <a:tcPr marL="76200" marR="76200" marT="66675" marB="66675"/>
                </a:tc>
                <a:tc>
                  <a:txBody>
                    <a:bodyPr/>
                    <a:lstStyle/>
                    <a:p>
                      <a:r>
                        <a:rPr sz="1050">
                          <a:solidFill>
                            <a:srgbClr val="151B23"/>
                          </a:solidFill>
                          <a:latin typeface="Arial"/>
                          <a:ea typeface="Arial"/>
                          <a:cs typeface="Arial"/>
                        </a:rPr>
                        <a:t>Facial paralysis</a:t>
                      </a:r>
                    </a:p>
                  </a:txBody>
                  <a:tcPr marL="76200" marR="76200" marT="66675" marB="66675"/>
                </a:tc>
                <a:tc>
                  <a:txBody>
                    <a:bodyPr/>
                    <a:lstStyle/>
                    <a:p>
                      <a:r>
                        <a:rPr sz="1050">
                          <a:solidFill>
                            <a:srgbClr val="151B23"/>
                          </a:solidFill>
                          <a:latin typeface="Arial"/>
                          <a:ea typeface="Arial"/>
                          <a:cs typeface="Arial"/>
                        </a:rPr>
                        <a:t>Public tool for facial asymmetry metrics</a:t>
                      </a:r>
                    </a:p>
                  </a:txBody>
                  <a:tcPr marL="76200" marR="76200" marT="66675" marB="66675"/>
                </a:tc>
              </a:tr>
            </a:tbl>
          </a:graphicData>
        </a:graphic>
      </p:graphicFrame>
      <p:sp>
        <p:nvSpPr>
          <p:cNvPr id="4" name="">
            <a:extLst xmlns:a="http://schemas.openxmlformats.org/drawingml/2006/main">
              <a:ext uri="{FF2B5EF4-FFF2-40B4-BE49-F238E27FC236}">
                <a16:creationId xmlns:a16="http://schemas.microsoft.com/office/drawing/2014/main" id="{A85FD659-6B60-4EA6-A35E-DD3BE8565B69}"/>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4</a:t>
            </a:r>
          </a:p>
        </p:txBody>
      </p:sp>
    </p:spTree>
    <p:extLst>
      <p:ext uri="{BB962C8B-B14F-4D97-AF65-F5344CB8AC3E}">
        <p14:creationId xmlns:p14="http://schemas.microsoft.com/office/powerpoint/2010/main" val="595467817"/>
      </p:ext>
    </p:extLst>
  </p:cSld>
</p:sld>
</file>

<file path=ppt/slides/slide5.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831712-5A04-487A-92C8-DDD1C5F3D154}"/>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Methods used in the literature</a:t>
            </a:r>
          </a:p>
        </p:txBody>
      </p:sp>
      <p:sp>
        <p:nvSpPr>
          <p:cNvPr id="2" name="">
            <a:extLst xmlns:a="http://schemas.openxmlformats.org/drawingml/2006/main">
              <a:ext uri="{FF2B5EF4-FFF2-40B4-BE49-F238E27FC236}">
                <a16:creationId xmlns:a16="http://schemas.microsoft.com/office/drawing/2014/main" id="{32484EDA-B3F9-4381-BBE4-8A59DAF41642}"/>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The strongest approaches move away from one-size-fits-all emotion classification.</a:t>
            </a:r>
          </a:p>
        </p:txBody>
      </p:sp>
      <p:sp>
        <p:nvSpPr>
          <p:cNvPr id="3" name="">
            <a:extLst xmlns:a="http://schemas.openxmlformats.org/drawingml/2006/main">
              <a:ext uri="{FF2B5EF4-FFF2-40B4-BE49-F238E27FC236}">
                <a16:creationId xmlns:a16="http://schemas.microsoft.com/office/drawing/2014/main" id="{704A950D-89BD-475D-825F-AC88707E0F16}"/>
              </a:ext>
            </a:extLst>
          </p:cNvPr>
          <p:cNvSpPr>
            <a:spLocks xmlns:a="http://schemas.openxmlformats.org/drawingml/2006/main" noGrp="1"/>
          </p:cNvSpPr>
          <p:nvPr/>
        </p:nvSpPr>
        <p:spPr>
          <a:xfrm xmlns:a="http://schemas.openxmlformats.org/drawingml/2006/main">
            <a:off x="895350" y="2000250"/>
            <a:ext cx="981075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1. Landmark and geometry features measure motion, symmetry, pose, and facial regions</a:t>
            </a:r>
          </a:p>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2. Facial action units provide interpretable muscle movement features</a:t>
            </a:r>
          </a:p>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3. CNN and transformer FER models work on standard datasets but often fail under disability shift</a:t>
            </a:r>
          </a:p>
          <a:p xmlns:a="http://schemas.openxmlformats.org/drawingml/2006/main">
            <a:pPr>
              <a:defRPr sz="1875" b="0">
                <a:solidFill>
                  <a:srgbClr val="151B23"/>
                </a:solidFill>
                <a:latin typeface="Arial"/>
                <a:ea typeface="Arial"/>
                <a:cs typeface="Arial"/>
              </a:defRPr>
            </a:pPr>
            <a:r>
              <a:rPr sz="1875" b="0">
                <a:solidFill>
                  <a:srgbClr val="151B23"/>
                </a:solidFill>
                <a:latin typeface="Arial"/>
                <a:ea typeface="Arial"/>
                <a:cs typeface="Arial"/>
              </a:rPr>
              <a:t>4. Personalized and multimodal models combine face, head pose, audio, physiology, and context</a:t>
            </a:r>
          </a:p>
        </p:txBody>
      </p:sp>
      <p:sp>
        <p:nvSpPr>
          <p:cNvPr id="4" name="">
            <a:extLst xmlns:a="http://schemas.openxmlformats.org/drawingml/2006/main">
              <a:ext uri="{FF2B5EF4-FFF2-40B4-BE49-F238E27FC236}">
                <a16:creationId xmlns:a16="http://schemas.microsoft.com/office/drawing/2014/main" id="{89955106-12C1-44F5-9CC5-AA536E428B88}"/>
              </a:ext>
            </a:extLst>
          </p:cNvPr>
          <p:cNvSpPr>
            <a:spLocks xmlns:a="http://schemas.openxmlformats.org/drawingml/2006/main" noGrp="1"/>
          </p:cNvSpPr>
          <p:nvPr/>
        </p:nvSpPr>
        <p:spPr>
          <a:xfrm xmlns:a="http://schemas.openxmlformats.org/drawingml/2006/main">
            <a:off x="876300" y="5410200"/>
            <a:ext cx="1000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2E7D60"/>
                </a:solidFill>
                <a:latin typeface="Arial"/>
                <a:ea typeface="Arial"/>
                <a:cs typeface="Arial"/>
              </a:defRPr>
            </a:pPr>
            <a:r>
              <a:rPr sz="1875" b="1">
                <a:solidFill>
                  <a:srgbClr val="2E7D60"/>
                </a:solidFill>
                <a:latin typeface="Arial"/>
                <a:ea typeface="Arial"/>
                <a:cs typeface="Arial"/>
              </a:rPr>
              <a:t>Action units and personalized models are the most promising technical direction.</a:t>
            </a:r>
          </a:p>
        </p:txBody>
      </p:sp>
      <p:sp>
        <p:nvSpPr>
          <p:cNvPr id="5" name="">
            <a:extLst xmlns:a="http://schemas.openxmlformats.org/drawingml/2006/main">
              <a:ext uri="{FF2B5EF4-FFF2-40B4-BE49-F238E27FC236}">
                <a16:creationId xmlns:a16="http://schemas.microsoft.com/office/drawing/2014/main" id="{68AD6DBA-6606-472D-A9F6-6C9B038829A6}"/>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5</a:t>
            </a:r>
          </a:p>
        </p:txBody>
      </p:sp>
    </p:spTree>
    <p:extLst>
      <p:ext uri="{BB962C8B-B14F-4D97-AF65-F5344CB8AC3E}">
        <p14:creationId xmlns:p14="http://schemas.microsoft.com/office/powerpoint/2010/main" val="1753682035"/>
      </p:ext>
    </p:extLst>
  </p:cSld>
</p:sld>
</file>

<file path=ppt/slides/slide6.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952CA9-A07E-40C7-A9EE-093C29B07876}"/>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Main limitations across the field</a:t>
            </a:r>
          </a:p>
        </p:txBody>
      </p:sp>
      <p:sp>
        <p:nvSpPr>
          <p:cNvPr id="2" name="">
            <a:extLst xmlns:a="http://schemas.openxmlformats.org/drawingml/2006/main">
              <a:ext uri="{FF2B5EF4-FFF2-40B4-BE49-F238E27FC236}">
                <a16:creationId xmlns:a16="http://schemas.microsoft.com/office/drawing/2014/main" id="{F27B3541-BD73-41A2-8907-6CF22B9495F9}"/>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The biggest gaps are not only technical; they are also data, ethics, and accessibility problems.</a:t>
            </a:r>
          </a:p>
        </p:txBody>
      </p:sp>
      <p:sp>
        <p:nvSpPr>
          <p:cNvPr id="3" name="">
            <a:extLst xmlns:a="http://schemas.openxmlformats.org/drawingml/2006/main">
              <a:ext uri="{FF2B5EF4-FFF2-40B4-BE49-F238E27FC236}">
                <a16:creationId xmlns:a16="http://schemas.microsoft.com/office/drawing/2014/main" id="{880ED25E-0109-457A-9C74-45299E219429}"/>
              </a:ext>
            </a:extLst>
          </p:cNvPr>
          <p:cNvSpPr>
            <a:spLocks xmlns:a="http://schemas.openxmlformats.org/drawingml/2006/main" noGrp="1"/>
          </p:cNvSpPr>
          <p:nvPr/>
        </p:nvSpPr>
        <p:spPr>
          <a:xfrm xmlns:a="http://schemas.openxmlformats.org/drawingml/2006/main">
            <a:off x="781050" y="1952625"/>
            <a:ext cx="10096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Few large public datasets represent disabled people’s facial movements</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Models trained on standard FER datasets often do not generalize</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Emotion labels can misrepresent what a person actually feels</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Clinical and child video data are difficult to share because of privacy</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Many papers do not release full code, making replication hard</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Assistive systems need real-world usability testing, not only accuracy scores</a:t>
            </a:r>
          </a:p>
        </p:txBody>
      </p:sp>
      <p:sp>
        <p:nvSpPr>
          <p:cNvPr id="4" name="">
            <a:extLst xmlns:a="http://schemas.openxmlformats.org/drawingml/2006/main">
              <a:ext uri="{FF2B5EF4-FFF2-40B4-BE49-F238E27FC236}">
                <a16:creationId xmlns:a16="http://schemas.microsoft.com/office/drawing/2014/main" id="{A7FB1290-D973-41A4-927A-BD20ADB5CEC0}"/>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6</a:t>
            </a:r>
          </a:p>
        </p:txBody>
      </p:sp>
    </p:spTree>
    <p:extLst>
      <p:ext uri="{BB962C8B-B14F-4D97-AF65-F5344CB8AC3E}">
        <p14:creationId xmlns:p14="http://schemas.microsoft.com/office/powerpoint/2010/main" val="811462134"/>
      </p:ext>
    </p:extLst>
  </p:cSld>
</p:sld>
</file>

<file path=ppt/slides/slide7.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D609D76-AB1C-44E1-846B-162C8F358AC7}"/>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Research opportunities for WiSense</a:t>
            </a:r>
          </a:p>
        </p:txBody>
      </p:sp>
      <p:sp>
        <p:nvSpPr>
          <p:cNvPr id="2" name="">
            <a:extLst xmlns:a="http://schemas.openxmlformats.org/drawingml/2006/main">
              <a:ext uri="{FF2B5EF4-FFF2-40B4-BE49-F238E27FC236}">
                <a16:creationId xmlns:a16="http://schemas.microsoft.com/office/drawing/2014/main" id="{F0A31EC5-ECDD-46C1-9852-18DC22B96EB1}"/>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A strong direction is disability-aware facial movement sensing, not generic emotion prediction.</a:t>
            </a:r>
          </a:p>
        </p:txBody>
      </p:sp>
      <p:sp>
        <p:nvSpPr>
          <p:cNvPr id="3" name="">
            <a:extLst xmlns:a="http://schemas.openxmlformats.org/drawingml/2006/main">
              <a:ext uri="{FF2B5EF4-FFF2-40B4-BE49-F238E27FC236}">
                <a16:creationId xmlns:a16="http://schemas.microsoft.com/office/drawing/2014/main" id="{38B9037E-4C4D-4F5B-9E8F-ED4F08AFB07C}"/>
              </a:ext>
            </a:extLst>
          </p:cNvPr>
          <p:cNvSpPr>
            <a:spLocks xmlns:a="http://schemas.openxmlformats.org/drawingml/2006/main" noGrp="1"/>
          </p:cNvSpPr>
          <p:nvPr/>
        </p:nvSpPr>
        <p:spPr>
          <a:xfrm xmlns:a="http://schemas.openxmlformats.org/drawingml/2006/main">
            <a:off x="781050" y="1952625"/>
            <a:ext cx="10096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Build subject-exclusive benchmarks to avoid identity leakage</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Use action units and uncertainty instead of direct emotion claims</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Personalize models for each user or disability context</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Combine facial movement with head pose, voice, physiology, and interaction context</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Evaluate with disabled users on usefulness, comfort, privacy, and control</a:t>
            </a:r>
          </a:p>
          <a:p xmlns:a="http://schemas.openxmlformats.org/drawingml/2006/main">
            <a:pPr>
              <a:defRPr sz="1800" b="0">
                <a:solidFill>
                  <a:srgbClr val="151B23"/>
                </a:solidFill>
                <a:latin typeface="Arial"/>
                <a:ea typeface="Arial"/>
                <a:cs typeface="Arial"/>
              </a:defRPr>
            </a:pPr>
            <a:r>
              <a:rPr sz="1800" b="0">
                <a:solidFill>
                  <a:srgbClr val="151B23"/>
                </a:solidFill>
                <a:latin typeface="Arial"/>
                <a:ea typeface="Arial"/>
                <a:cs typeface="Arial"/>
              </a:rPr>
              <a:t>• Release a reproducible pipeline using tools such as OpenFace and Emotrics</a:t>
            </a:r>
          </a:p>
        </p:txBody>
      </p:sp>
      <p:sp>
        <p:nvSpPr>
          <p:cNvPr id="4" name="">
            <a:extLst xmlns:a="http://schemas.openxmlformats.org/drawingml/2006/main">
              <a:ext uri="{FF2B5EF4-FFF2-40B4-BE49-F238E27FC236}">
                <a16:creationId xmlns:a16="http://schemas.microsoft.com/office/drawing/2014/main" id="{D5E70C77-FA9E-4761-BB59-91A03E2BA941}"/>
              </a:ext>
            </a:extLst>
          </p:cNvPr>
          <p:cNvSpPr>
            <a:spLocks xmlns:a="http://schemas.openxmlformats.org/drawingml/2006/main" noGrp="1"/>
          </p:cNvSpPr>
          <p:nvPr/>
        </p:nvSpPr>
        <p:spPr>
          <a:xfrm xmlns:a="http://schemas.openxmlformats.org/drawingml/2006/main">
            <a:off x="781050" y="5619750"/>
            <a:ext cx="1009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b="1">
                <a:solidFill>
                  <a:srgbClr val="2457A6"/>
                </a:solidFill>
                <a:latin typeface="Arial"/>
                <a:ea typeface="Arial"/>
                <a:cs typeface="Arial"/>
              </a:defRPr>
            </a:pPr>
            <a:r>
              <a:rPr sz="1875" b="1">
                <a:solidFill>
                  <a:srgbClr val="2457A6"/>
                </a:solidFill>
                <a:latin typeface="Arial"/>
                <a:ea typeface="Arial"/>
                <a:cs typeface="Arial"/>
              </a:rPr>
              <a:t>Possible framing: disability-aware facial movement sensing for accessible interaction</a:t>
            </a:r>
          </a:p>
        </p:txBody>
      </p:sp>
      <p:sp>
        <p:nvSpPr>
          <p:cNvPr id="5" name="">
            <a:extLst xmlns:a="http://schemas.openxmlformats.org/drawingml/2006/main">
              <a:ext uri="{FF2B5EF4-FFF2-40B4-BE49-F238E27FC236}">
                <a16:creationId xmlns:a16="http://schemas.microsoft.com/office/drawing/2014/main" id="{8A670E6C-49F8-41AB-BE25-922648350787}"/>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7</a:t>
            </a:r>
          </a:p>
        </p:txBody>
      </p:sp>
    </p:spTree>
    <p:extLst>
      <p:ext uri="{BB962C8B-B14F-4D97-AF65-F5344CB8AC3E}">
        <p14:creationId xmlns:p14="http://schemas.microsoft.com/office/powerpoint/2010/main" val="499478410"/>
      </p:ext>
    </p:extLst>
  </p:cSld>
</p:sld>
</file>

<file path=ppt/slides/slide8.xml><?xml version="1.0" encoding="utf-8"?>
<p:sld xmlns:p="http://schemas.openxmlformats.org/presentationml/2006/main">
  <p:cSld>
    <p:bg>
      <p:bgPr>
        <a:solidFill xmlns:a="http://schemas.openxmlformats.org/drawingml/2006/main">
          <a:srgbClr val="FBFCF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407FC92-7E98-4FD3-83EE-77F84F7330B8}"/>
              </a:ext>
            </a:extLst>
          </p:cNvPr>
          <p:cNvSpPr>
            <a:spLocks xmlns:a="http://schemas.openxmlformats.org/drawingml/2006/main" noGrp="1"/>
          </p:cNvSpPr>
          <p:nvPr/>
        </p:nvSpPr>
        <p:spPr>
          <a:xfrm xmlns:a="http://schemas.openxmlformats.org/drawingml/2006/main">
            <a:off x="609600" y="45720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550" b="1">
                <a:solidFill>
                  <a:srgbClr val="151B23"/>
                </a:solidFill>
                <a:latin typeface="Arial"/>
                <a:ea typeface="Arial"/>
                <a:cs typeface="Arial"/>
              </a:defRPr>
            </a:pPr>
            <a:r>
              <a:rPr sz="2550" b="1">
                <a:solidFill>
                  <a:srgbClr val="151B23"/>
                </a:solidFill>
                <a:latin typeface="Arial"/>
                <a:ea typeface="Arial"/>
                <a:cs typeface="Arial"/>
              </a:rPr>
              <a:t>References and links</a:t>
            </a:r>
          </a:p>
        </p:txBody>
      </p:sp>
      <p:sp>
        <p:nvSpPr>
          <p:cNvPr id="2" name="">
            <a:extLst xmlns:a="http://schemas.openxmlformats.org/drawingml/2006/main">
              <a:ext uri="{FF2B5EF4-FFF2-40B4-BE49-F238E27FC236}">
                <a16:creationId xmlns:a16="http://schemas.microsoft.com/office/drawing/2014/main" id="{E7F86BA7-105D-4C95-90B4-A438777D1A72}"/>
              </a:ext>
            </a:extLst>
          </p:cNvPr>
          <p:cNvSpPr>
            <a:spLocks xmlns:a="http://schemas.openxmlformats.org/drawingml/2006/main" noGrp="1"/>
          </p:cNvSpPr>
          <p:nvPr/>
        </p:nvSpPr>
        <p:spPr>
          <a:xfrm xmlns:a="http://schemas.openxmlformats.org/drawingml/2006/main">
            <a:off x="628650" y="106680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75" b="0">
                <a:solidFill>
                  <a:srgbClr val="4A5565"/>
                </a:solidFill>
                <a:latin typeface="Arial"/>
                <a:ea typeface="Arial"/>
                <a:cs typeface="Arial"/>
              </a:defRPr>
            </a:pPr>
            <a:r>
              <a:rPr sz="1575" b="0">
                <a:solidFill>
                  <a:srgbClr val="4A5565"/>
                </a:solidFill>
                <a:latin typeface="Arial"/>
                <a:ea typeface="Arial"/>
                <a:cs typeface="Arial"/>
              </a:rPr>
              <a:t>Core sources used in the deck and survey.</a:t>
            </a:r>
          </a:p>
        </p:txBody>
      </p:sp>
      <p:sp>
        <p:nvSpPr>
          <p:cNvPr id="3" name="">
            <a:extLst xmlns:a="http://schemas.openxmlformats.org/drawingml/2006/main">
              <a:ext uri="{FF2B5EF4-FFF2-40B4-BE49-F238E27FC236}">
                <a16:creationId xmlns:a16="http://schemas.microsoft.com/office/drawing/2014/main" id="{FE4F3768-DB7A-44F4-853D-88C2039AB641}"/>
              </a:ext>
            </a:extLst>
          </p:cNvPr>
          <p:cNvSpPr>
            <a:spLocks xmlns:a="http://schemas.openxmlformats.org/drawingml/2006/main" noGrp="1"/>
          </p:cNvSpPr>
          <p:nvPr/>
        </p:nvSpPr>
        <p:spPr>
          <a:xfrm xmlns:a="http://schemas.openxmlformats.org/drawingml/2006/main">
            <a:off x="723900" y="1809750"/>
            <a:ext cx="10572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500" b="0">
                <a:solidFill>
                  <a:srgbClr val="151B23"/>
                </a:solidFill>
                <a:latin typeface="Arial"/>
                <a:ea typeface="Arial"/>
                <a:cs typeface="Arial"/>
              </a:defRPr>
            </a:pPr>
            <a:r>
              <a:rPr sz="1500" b="0">
                <a:solidFill>
                  <a:srgbClr val="151B23"/>
                </a:solidFill>
                <a:latin typeface="Arial"/>
                <a:ea typeface="Arial"/>
                <a:cs typeface="Arial"/>
              </a:rPr>
              <a:t>• Rudovic et al. 2018 — Personalized machine learning for autism therapy: https://arxiv.org/abs/1802.01186</a:t>
            </a:r>
          </a:p>
          <a:p xmlns:a="http://schemas.openxmlformats.org/drawingml/2006/main">
            <a:pPr>
              <a:defRPr sz="1500" b="0">
                <a:solidFill>
                  <a:srgbClr val="151B23"/>
                </a:solidFill>
                <a:latin typeface="Arial"/>
                <a:ea typeface="Arial"/>
                <a:cs typeface="Arial"/>
              </a:defRPr>
            </a:pPr>
            <a:r>
              <a:rPr sz="1500" b="0">
                <a:solidFill>
                  <a:srgbClr val="151B23"/>
                </a:solidFill>
                <a:latin typeface="Arial"/>
                <a:ea typeface="Arial"/>
                <a:cs typeface="Arial"/>
              </a:rPr>
              <a:t>• Bangerter et al. 2020 — Spontaneous facial expression in ASD: https://pmc.ncbi.nlm.nih.gov/articles/PMC7212683/</a:t>
            </a:r>
          </a:p>
          <a:p xmlns:a="http://schemas.openxmlformats.org/drawingml/2006/main">
            <a:pPr>
              <a:defRPr sz="1500" b="0">
                <a:solidFill>
                  <a:srgbClr val="151B23"/>
                </a:solidFill>
                <a:latin typeface="Arial"/>
                <a:ea typeface="Arial"/>
                <a:cs typeface="Arial"/>
              </a:defRPr>
            </a:pPr>
            <a:r>
              <a:rPr sz="1500" b="0">
                <a:solidFill>
                  <a:srgbClr val="151B23"/>
                </a:solidFill>
                <a:latin typeface="Arial"/>
                <a:ea typeface="Arial"/>
                <a:cs typeface="Arial"/>
              </a:rPr>
              <a:t>• Greene et al. 2020 — MEEI facial palsy standard set: https://pubmed.ncbi.nlm.nih.gov/31021433/</a:t>
            </a:r>
          </a:p>
          <a:p xmlns:a="http://schemas.openxmlformats.org/drawingml/2006/main">
            <a:pPr>
              <a:defRPr sz="1500" b="0">
                <a:solidFill>
                  <a:srgbClr val="151B23"/>
                </a:solidFill>
                <a:latin typeface="Arial"/>
                <a:ea typeface="Arial"/>
                <a:cs typeface="Arial"/>
              </a:defRPr>
            </a:pPr>
            <a:r>
              <a:rPr sz="1500" b="0">
                <a:solidFill>
                  <a:srgbClr val="151B23"/>
                </a:solidFill>
                <a:latin typeface="Arial"/>
                <a:ea typeface="Arial"/>
                <a:cs typeface="Arial"/>
              </a:rPr>
              <a:t>• Ge et al. 2022 — Facial paralysis estimation with AUs: https://arxiv.org/abs/2203.01800</a:t>
            </a:r>
          </a:p>
          <a:p xmlns:a="http://schemas.openxmlformats.org/drawingml/2006/main">
            <a:pPr>
              <a:defRPr sz="1500" b="0">
                <a:solidFill>
                  <a:srgbClr val="151B23"/>
                </a:solidFill>
                <a:latin typeface="Arial"/>
                <a:ea typeface="Arial"/>
                <a:cs typeface="Arial"/>
              </a:defRPr>
            </a:pPr>
            <a:r>
              <a:rPr sz="1500" b="0">
                <a:solidFill>
                  <a:srgbClr val="151B23"/>
                </a:solidFill>
                <a:latin typeface="Arial"/>
                <a:ea typeface="Arial"/>
                <a:cs typeface="Arial"/>
              </a:rPr>
              <a:t>• Gaya-Morey et al. 2026 — FER in intellectual disabilities: https://arxiv.org/abs/2401.11877</a:t>
            </a:r>
          </a:p>
          <a:p xmlns:a="http://schemas.openxmlformats.org/drawingml/2006/main">
            <a:pPr>
              <a:defRPr sz="1500" b="0">
                <a:solidFill>
                  <a:srgbClr val="151B23"/>
                </a:solidFill>
                <a:latin typeface="Arial"/>
                <a:ea typeface="Arial"/>
                <a:cs typeface="Arial"/>
              </a:defRPr>
            </a:pPr>
            <a:r>
              <a:rPr sz="1500" b="0">
                <a:solidFill>
                  <a:srgbClr val="151B23"/>
                </a:solidFill>
                <a:latin typeface="Arial"/>
                <a:ea typeface="Arial"/>
                <a:cs typeface="Arial"/>
              </a:rPr>
              <a:t>• OpenFace, Emotrics, and YouTube Facial Palsy Database GitHub repositories</a:t>
            </a:r>
          </a:p>
        </p:txBody>
      </p:sp>
      <p:sp>
        <p:nvSpPr>
          <p:cNvPr id="4" name="">
            <a:extLst xmlns:a="http://schemas.openxmlformats.org/drawingml/2006/main">
              <a:ext uri="{FF2B5EF4-FFF2-40B4-BE49-F238E27FC236}">
                <a16:creationId xmlns:a16="http://schemas.microsoft.com/office/drawing/2014/main" id="{5B3BBF7B-3A2A-4740-A03A-F6C6D98D09C4}"/>
              </a:ext>
            </a:extLst>
          </p:cNvPr>
          <p:cNvSpPr>
            <a:spLocks xmlns:a="http://schemas.openxmlformats.org/drawingml/2006/main" noGrp="1"/>
          </p:cNvSpPr>
          <p:nvPr/>
        </p:nvSpPr>
        <p:spPr>
          <a:xfrm xmlns:a="http://schemas.openxmlformats.org/drawingml/2006/main">
            <a:off x="609600" y="6343650"/>
            <a:ext cx="285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308"/>
          </a:bodyPr>
          <a:lstStyle xmlns:a="http://schemas.openxmlformats.org/drawingml/2006/main"/>
          <a:p xmlns:a="http://schemas.openxmlformats.org/drawingml/2006/main">
            <a:pPr>
              <a:defRPr sz="975" b="0">
                <a:solidFill>
                  <a:srgbClr val="7A8494"/>
                </a:solidFill>
                <a:latin typeface="Arial"/>
                <a:ea typeface="Arial"/>
                <a:cs typeface="Arial"/>
              </a:defRPr>
            </a:pPr>
            <a:r>
              <a:rPr sz="975" b="0">
                <a:solidFill>
                  <a:srgbClr val="7A8494"/>
                </a:solidFill>
                <a:latin typeface="Arial"/>
                <a:ea typeface="Arial"/>
                <a:cs typeface="Arial"/>
              </a:rPr>
              <a:t>WiSense Lab | 8</a:t>
            </a:r>
          </a:p>
        </p:txBody>
      </p:sp>
    </p:spTree>
    <p:extLst>
      <p:ext uri="{BB962C8B-B14F-4D97-AF65-F5344CB8AC3E}">
        <p14:creationId xmlns:p14="http://schemas.microsoft.com/office/powerpoint/2010/main" val="14368473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2026-10-08T19:19:31.5480000Z</dcterms:created>
  <dcterms:modified xsi:type="dcterms:W3CDTF">2026-10-08T19:19:31.5480000Z</dcterms:modified>
</coreProperties>
</file>